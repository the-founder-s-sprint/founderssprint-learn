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[YOUR COMPANY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9A036"/>
                </a:solidFill>
                <a:latin typeface="Arial"/>
              </a:defRPr>
            </a:pPr>
            <a:r>
              <a:t>[One-line description of what you 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EBD6"/>
                </a:solidFill>
                <a:latin typeface="Arial"/>
              </a:defRPr>
            </a:pPr>
            <a:r>
              <a:t>[Seed / Pre-Seed] Round  |  Raising [Amount]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[Your Name]  |  [Email]  |  [Phone]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01E"/>
                </a:solidFill>
                <a:latin typeface="Arial"/>
              </a:defRPr>
            </a:pPr>
            <a:r>
              <a:t>[Describe the core problem your target customers face. Make it specific, relatable, and painful.]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85A2E"/>
                </a:solidFill>
                <a:latin typeface="Arial"/>
              </a:defRPr>
            </a:pPr>
            <a:r>
              <a:t>[X million]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[people affected in Uganda]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297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85A2E"/>
                </a:solidFill>
                <a:latin typeface="Arial"/>
              </a:defRPr>
            </a:pPr>
            <a:r>
              <a:t>[UGX X billion]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[market value lost annually]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394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85A2E"/>
                </a:solidFill>
                <a:latin typeface="Arial"/>
              </a:defRPr>
            </a:pPr>
            <a:r>
              <a:t>[X%]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852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[lack access to current solutions]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201E"/>
                </a:solidFill>
                <a:latin typeface="Arial"/>
              </a:defRPr>
            </a:pPr>
            <a:r>
              <a:t>[One clear sentence: What is your product and how does it solve the problem?]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3832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3A2D"/>
                </a:solidFill>
                <a:latin typeface="Arial"/>
              </a:defRPr>
            </a:pPr>
            <a:r>
              <a:t>[Feature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[Brief description of key feature and its benefit to the user]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926080"/>
            <a:ext cx="33832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3A2D"/>
                </a:solidFill>
                <a:latin typeface="Arial"/>
              </a:defRPr>
            </a:pPr>
            <a:r>
              <a:t>[Feature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8404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[Brief description of second key feature and its benefit]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9" y="2926080"/>
            <a:ext cx="33832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3A2D"/>
                </a:solidFill>
                <a:latin typeface="Arial"/>
              </a:defRPr>
            </a:pPr>
            <a:r>
              <a:t>[Feature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38404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[Brief description of third key feature and its benefit]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1645920"/>
            <a:ext cx="1828800" cy="1828800"/>
          </a:xfrm>
          <a:prstGeom prst="ellipse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[UGX X trillion]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[Total addressable market — the entire market if you captured 100%]</a:t>
            </a:r>
          </a:p>
        </p:txBody>
      </p:sp>
      <p:sp>
        <p:nvSpPr>
          <p:cNvPr id="8" name="Oval 7"/>
          <p:cNvSpPr/>
          <p:nvPr/>
        </p:nvSpPr>
        <p:spPr>
          <a:xfrm>
            <a:off x="5212079" y="1645920"/>
            <a:ext cx="1828800" cy="1828800"/>
          </a:xfrm>
          <a:prstGeom prst="ellipse">
            <a:avLst/>
          </a:prstGeom>
          <a:solidFill>
            <a:srgbClr val="B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9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[UGX X billion]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840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[Serviceable addressable market — the segment you can realistically reach]</a:t>
            </a:r>
          </a:p>
        </p:txBody>
      </p:sp>
      <p:sp>
        <p:nvSpPr>
          <p:cNvPr id="12" name="Oval 11"/>
          <p:cNvSpPr/>
          <p:nvPr/>
        </p:nvSpPr>
        <p:spPr>
          <a:xfrm>
            <a:off x="8961119" y="1645920"/>
            <a:ext cx="1828800" cy="1828800"/>
          </a:xfrm>
          <a:prstGeom prst="ellipse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19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[UGX X billion]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3840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[Serviceable obtainable market — what you can capture in 3-5 years]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880"/>
                </a:solidFill>
                <a:latin typeface="Arial"/>
              </a:defRPr>
            </a:pPr>
            <a:r>
              <a:t>Source: [Cite your sources — e.g., World Bank, UBOS, industry reports. Investors will check.]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EBD6"/>
                </a:solidFill>
                <a:latin typeface="Arial"/>
              </a:defRPr>
            </a:pPr>
            <a:r>
              <a:t>[Show what you've achieved so far. Numbers matter more than words.]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68880" cy="1828800"/>
          </a:xfrm>
          <a:prstGeom prst="rect">
            <a:avLst/>
          </a:prstGeom>
          <a:solidFill>
            <a:srgbClr val="2D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9A036"/>
                </a:solidFill>
                <a:latin typeface="Arial"/>
              </a:defRPr>
            </a:pPr>
            <a:r>
              <a:t>[X]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EBD6"/>
                </a:solidFill>
                <a:latin typeface="Arial"/>
              </a:defRPr>
            </a:pPr>
            <a:r>
              <a:t>Monthly Revenue</a:t>
            </a:r>
            <a:br/>
            <a:r>
              <a:t>(UGX)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011680"/>
            <a:ext cx="2468880" cy="1828800"/>
          </a:xfrm>
          <a:prstGeom prst="rect">
            <a:avLst/>
          </a:prstGeom>
          <a:solidFill>
            <a:srgbClr val="2D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9A036"/>
                </a:solidFill>
                <a:latin typeface="Arial"/>
              </a:defRPr>
            </a:pPr>
            <a:r>
              <a:t>[X]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EBD6"/>
                </a:solidFill>
                <a:latin typeface="Arial"/>
              </a:defRPr>
            </a:pPr>
            <a:r>
              <a:t>Active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468880" cy="1828800"/>
          </a:xfrm>
          <a:prstGeom prst="rect">
            <a:avLst/>
          </a:prstGeom>
          <a:solidFill>
            <a:srgbClr val="2D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9A036"/>
                </a:solidFill>
                <a:latin typeface="Arial"/>
              </a:defRPr>
            </a:pPr>
            <a:r>
              <a:t>[X%]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EBD6"/>
                </a:solidFill>
                <a:latin typeface="Arial"/>
              </a:defRPr>
            </a:pPr>
            <a:r>
              <a:t>MoM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011680"/>
            <a:ext cx="2468880" cy="1828800"/>
          </a:xfrm>
          <a:prstGeom prst="rect">
            <a:avLst/>
          </a:prstGeom>
          <a:solidFill>
            <a:srgbClr val="2D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9A036"/>
                </a:solidFill>
                <a:latin typeface="Arial"/>
              </a:defRPr>
            </a:pPr>
            <a:r>
              <a:t>[X]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EBD6"/>
                </a:solidFill>
                <a:latin typeface="Arial"/>
              </a:defRPr>
            </a:pPr>
            <a:r>
              <a:t>Paying</a:t>
            </a:r>
            <a:br/>
            <a: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BD6"/>
                </a:solidFill>
                <a:latin typeface="Arial"/>
              </a:defRPr>
            </a:pPr>
            <a:r>
              <a:t>[Add a timeline of key milestones below]</a:t>
            </a:r>
            <a:br/>
            <a:br/>
            <a:r>
              <a:t>[Date] — [Milestone 1: e.g., 'Launched MVP']</a:t>
            </a:r>
            <a:br/>
            <a:r>
              <a:t>[Date] — [Milestone 2: e.g., 'First paying customer']</a:t>
            </a:r>
            <a:br/>
            <a:r>
              <a:t>[Date] — [Milestone 3: e.g., 'Reached UGX 5M MRR']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201E"/>
                </a:solidFill>
                <a:latin typeface="Arial"/>
              </a:defRPr>
            </a:pPr>
            <a:r>
              <a:t>[How do you make money? Be specific about pricing and unit economics.]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37160" cy="8229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3A2D"/>
                </a:solidFill>
                <a:latin typeface="Arial"/>
              </a:defRPr>
            </a:pPr>
            <a:r>
              <a:t>[Revenue Stream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[Description — e.g., 'SaaS subscription at UGX 50,000/month per user']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37160" cy="8229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3A2D"/>
                </a:solidFill>
                <a:latin typeface="Arial"/>
              </a:defRPr>
            </a:pPr>
            <a:r>
              <a:t>[Revenue Stream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[Description — e.g., 'Transaction fee of 2.5% on each payment processed']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20640"/>
            <a:ext cx="137160" cy="8229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3A2D"/>
                </a:solidFill>
                <a:latin typeface="Arial"/>
              </a:defRPr>
            </a:pPr>
            <a:r>
              <a:t>[Revenue Stream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[Description — e.g., 'Enterprise licensing at UGX 2M/year']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560320"/>
            <a:ext cx="4572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3A2D"/>
                </a:solidFill>
                <a:latin typeface="Arial"/>
              </a:defRPr>
            </a:pPr>
            <a:r>
              <a:t>Unit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1E"/>
                </a:solidFill>
                <a:latin typeface="Arial"/>
              </a:defRPr>
            </a:pPr>
            <a:r>
              <a:t>CAC: [UGX 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1E"/>
                </a:solidFill>
                <a:latin typeface="Arial"/>
              </a:defRPr>
            </a:pPr>
            <a:r>
              <a:t>LTV: [UGX X]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1E"/>
                </a:solidFill>
                <a:latin typeface="Arial"/>
              </a:defRPr>
            </a:pPr>
            <a:r>
              <a:t>LTV/CAC Ratio: [X]x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1E"/>
                </a:solidFill>
                <a:latin typeface="Arial"/>
              </a:defRPr>
            </a:pPr>
            <a:r>
              <a:t>Gross Margin: [X]%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1E"/>
                </a:solidFill>
                <a:latin typeface="Arial"/>
              </a:defRPr>
            </a:pPr>
            <a:r>
              <a:t>Payback Period: [X]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1E"/>
                </a:solidFill>
                <a:latin typeface="Arial"/>
              </a:defRPr>
            </a:pPr>
            <a:r>
              <a:t>[Show how you're different. Be honest — investors respect founders who understand their competition.]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1E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01E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92608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036"/>
                </a:solidFill>
                <a:latin typeface="Arial"/>
              </a:defRPr>
            </a:pPr>
            <a:r>
              <a:t>[Your Company]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C8880"/>
                </a:solidFill>
                <a:latin typeface="Arial"/>
              </a:defRPr>
            </a:pPr>
            <a:r>
              <a:t>[Competitor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9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C8880"/>
                </a:solidFill>
                <a:latin typeface="Arial"/>
              </a:defRPr>
            </a:pPr>
            <a:r>
              <a:t>[Competitor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C8880"/>
                </a:solidFill>
                <a:latin typeface="Arial"/>
              </a:defRPr>
            </a:pPr>
            <a:r>
              <a:t>[Competitor 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01E"/>
                </a:solidFill>
                <a:latin typeface="Arial"/>
              </a:defRPr>
            </a:pPr>
            <a:r>
              <a:t>[Feature / Advantage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3A2D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01E"/>
                </a:solidFill>
                <a:latin typeface="Arial"/>
              </a:defRPr>
            </a:pPr>
            <a:r>
              <a:t>[Feature / Advantage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3A2D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8056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01E"/>
                </a:solidFill>
                <a:latin typeface="Arial"/>
              </a:defRPr>
            </a:pPr>
            <a:r>
              <a:t>[Feature / Advantage 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3A2D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9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20639"/>
            <a:ext cx="10972800" cy="54864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01E"/>
                </a:solidFill>
                <a:latin typeface="Arial"/>
              </a:defRPr>
            </a:pPr>
            <a:r>
              <a:t>[Pricing]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3A2D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01E"/>
                </a:solidFill>
                <a:latin typeface="Arial"/>
              </a:defRPr>
            </a:pPr>
            <a:r>
              <a:t>[Uganda Focus]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3A2D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199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[Yes/No/Details]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TEAM</a:t>
            </a:r>
          </a:p>
        </p:txBody>
      </p:sp>
      <p:sp>
        <p:nvSpPr>
          <p:cNvPr id="4" name="Oval 3"/>
          <p:cNvSpPr/>
          <p:nvPr/>
        </p:nvSpPr>
        <p:spPr>
          <a:xfrm>
            <a:off x="1737360" y="1645920"/>
            <a:ext cx="1371600" cy="1371600"/>
          </a:xfrm>
          <a:prstGeom prst="ellipse">
            <a:avLst/>
          </a:prstGeom>
          <a:solidFill>
            <a:srgbClr val="F5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880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3A2D"/>
                </a:solidFill>
                <a:latin typeface="Arial"/>
              </a:defRPr>
            </a:pPr>
            <a:r>
              <a:t>[Founder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85A2E"/>
                </a:solidFill>
                <a:latin typeface="Arial"/>
              </a:defRPr>
            </a:pPr>
            <a:r>
              <a:t>[CEO / CTO / etc.]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[Brief bio — previous experience, education, why you're the right person]</a:t>
            </a:r>
          </a:p>
        </p:txBody>
      </p:sp>
      <p:sp>
        <p:nvSpPr>
          <p:cNvPr id="9" name="Oval 8"/>
          <p:cNvSpPr/>
          <p:nvPr/>
        </p:nvSpPr>
        <p:spPr>
          <a:xfrm>
            <a:off x="5486399" y="1645920"/>
            <a:ext cx="1371600" cy="1371600"/>
          </a:xfrm>
          <a:prstGeom prst="ellipse">
            <a:avLst/>
          </a:prstGeom>
          <a:solidFill>
            <a:srgbClr val="F5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399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880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3A2D"/>
                </a:solidFill>
                <a:latin typeface="Arial"/>
              </a:defRPr>
            </a:pPr>
            <a:r>
              <a:t>[Co-Founder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85A2E"/>
                </a:solidFill>
                <a:latin typeface="Arial"/>
              </a:defRPr>
            </a:pPr>
            <a:r>
              <a:t>[Role]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[Brief bio — what they bring to the team]</a:t>
            </a:r>
          </a:p>
        </p:txBody>
      </p:sp>
      <p:sp>
        <p:nvSpPr>
          <p:cNvPr id="14" name="Oval 13"/>
          <p:cNvSpPr/>
          <p:nvPr/>
        </p:nvSpPr>
        <p:spPr>
          <a:xfrm>
            <a:off x="9235439" y="1645920"/>
            <a:ext cx="1371600" cy="1371600"/>
          </a:xfrm>
          <a:prstGeom prst="ellipse">
            <a:avLst/>
          </a:prstGeom>
          <a:solidFill>
            <a:srgbClr val="F5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880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3A2D"/>
                </a:solidFill>
                <a:latin typeface="Arial"/>
              </a:defRPr>
            </a:pPr>
            <a:r>
              <a:t>[Key Hire / Advisor]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85A2E"/>
                </a:solidFill>
                <a:latin typeface="Arial"/>
              </a:defRPr>
            </a:pPr>
            <a:r>
              <a:t>[Role]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880"/>
                </a:solidFill>
                <a:latin typeface="Arial"/>
              </a:defRPr>
            </a:pPr>
            <a:r>
              <a:t>[Brief bio — credibility and expertise they add]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1E"/>
                </a:solidFill>
                <a:latin typeface="Arial"/>
              </a:defRPr>
            </a:pPr>
            <a:r>
              <a:t>Advisors: [List any notable advisors or board members]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9A036"/>
                </a:solidFill>
                <a:latin typeface="Arial"/>
              </a:defRPr>
            </a:pPr>
            <a:r>
              <a:t>Raising [Amount] at [Pre-money Valuation]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Use of Funds: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00400"/>
            <a:ext cx="91440" cy="45720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[X%] — Product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BD6"/>
                </a:solidFill>
                <a:latin typeface="Arial"/>
              </a:defRPr>
            </a:pPr>
            <a:r>
              <a:t>[e.g., Hire 2 engineers, build mobile app]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931920"/>
            <a:ext cx="91440" cy="45720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[X%] — Sales &amp;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BD6"/>
                </a:solidFill>
                <a:latin typeface="Arial"/>
              </a:defRPr>
            </a:pPr>
            <a:r>
              <a:t>[e.g., Launch in 3 new cities, digital marketing]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663440"/>
            <a:ext cx="91440" cy="45720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[X%] —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BD6"/>
                </a:solidFill>
                <a:latin typeface="Arial"/>
              </a:defRPr>
            </a:pPr>
            <a:r>
              <a:t>[e.g., Warehouse, logistics infrastructure]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94960"/>
            <a:ext cx="91440" cy="45720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[X%] — Working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EBD6"/>
                </a:solidFill>
                <a:latin typeface="Arial"/>
              </a:defRPr>
            </a:pPr>
            <a:r>
              <a:t>[e.g., Inventory, operational runway]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880"/>
                </a:solidFill>
                <a:latin typeface="Arial"/>
              </a:defRPr>
            </a:pPr>
            <a:r>
              <a:t>[Your Name]  |  [Email]  |  [Phone]  |  [Website]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91440" cy="3657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1E"/>
                </a:solidFill>
                <a:latin typeface="Arial"/>
              </a:defRPr>
            </a:pPr>
            <a:r>
              <a:t>Detailed Financial Projections (see Financial Model Template)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91440" cy="3657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1E"/>
                </a:solidFill>
                <a:latin typeface="Arial"/>
              </a:defRPr>
            </a:pPr>
            <a:r>
              <a:t>Product Screenshots /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91440" cy="3657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1E"/>
                </a:solidFill>
                <a:latin typeface="Arial"/>
              </a:defRPr>
            </a:pPr>
            <a:r>
              <a:t>Customer Testimonials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59"/>
            <a:ext cx="91440" cy="3657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1E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91440" cy="3657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1E"/>
                </a:solidFill>
                <a:latin typeface="Arial"/>
              </a:defRPr>
            </a:pPr>
            <a:r>
              <a:t>Cap Table (see Cap Table Template)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91440" cy="365760"/>
          </a:xfrm>
          <a:prstGeom prst="rect">
            <a:avLst/>
          </a:prstGeom>
          <a:solidFill>
            <a:srgbClr val="C9A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1E"/>
                </a:solidFill>
                <a:latin typeface="Arial"/>
              </a:defRPr>
            </a:pPr>
            <a:r>
              <a:t>Letters of Intent / Partnership Agreements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880"/>
                </a:solidFill>
                <a:latin typeface="Arial"/>
              </a:defRPr>
            </a:pPr>
            <a:r>
              <a:t>Tip: Only include appendix slides if the investor asks to go deeper. Keep your core deck to 9-10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